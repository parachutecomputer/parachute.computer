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LANDSCAPE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Everyone is racing to build</a:t>
            </a:r>
            <a:br/>
            <a:r>
              <a:t>your AI agent.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OpenClaw. Claude Cowork. ZoComputer. Perplexity Computer. Manus.</a:t>
            </a:r>
            <a:br/>
            <a:r>
              <a:t>Over 100 million people already pay $20+/month for AI.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2743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6400" b="0">
                <a:solidFill>
                  <a:srgbClr val="4A7C59"/>
                </a:solidFill>
                <a:latin typeface="Georgia"/>
              </a:defRPr>
            </a:pPr>
            <a:r>
              <a:t>$50B+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480060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agentic AI market by 2030 · 44% CAGR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2C2A26"/>
                </a:solidFill>
                <a:latin typeface="Georgia"/>
              </a:defRPr>
            </a:pPr>
            <a:r>
              <a:t>Features get cloned in weeks. It’s a race to the bottom. So we stopped trying to win 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There’s no knowledge layer.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AI platform stores personal context the same way:</a:t>
            </a:r>
            <a:br/>
            <a:r>
              <a:t>one flat text file. No structure. No knowledge about your</a:t>
            </a:r>
            <a:br/>
            <a:r>
              <a:t>projects, people, or patterns over time.</a:t>
            </a:r>
            <a:br/>
            <a:r>
              <a:t>There’s no portable, structured knowledge layer that works across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57200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And there’s a deeper problem: how your thinking gets into</a:t>
            </a:r>
            <a:br/>
            <a:r>
              <a:t>the system. You can talk to your AI, but that’s a conversation —</a:t>
            </a:r>
            <a:br/>
            <a:r>
              <a:t>the AI is always in the middle.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76072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Tools that help us think for ourselves — not just think with AI —</a:t>
            </a:r>
            <a:br/>
            <a:r>
              <a:t>produce the quality of thinking that makes AI most useful.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OUR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Parachute Daily.</a:t>
            </a:r>
            <a:br/>
            <a:r>
              <a:t>Just talk.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50292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6B6860"/>
                </a:solidFill>
                <a:latin typeface="Calibri"/>
              </a:defRPr>
            </a:pPr>
            <a:r>
              <a:t>A voice-first journal.</a:t>
            </a:r>
            <a:br/>
            <a:br/>
            <a:r>
              <a:t>Speak into a wearable pendant or your phone —</a:t>
            </a:r>
            <a:br/>
            <a:r>
              <a:t>on a walk, in the car, wherever thinking happens.</a:t>
            </a:r>
            <a:br/>
            <a:br/>
            <a:r>
              <a:t>Simple for humans. Native for AI.</a:t>
            </a:r>
            <a:br/>
            <a:r>
              <a:t>No learning curve. Just talk.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3200400"/>
            <a:ext cx="4114800" cy="274320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347472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PENDANT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3931920"/>
            <a:ext cx="3383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Wearable voice capture device.</a:t>
            </a:r>
            <a:br/>
            <a:br/>
            <a:r>
              <a:t>Press a button. Talk.</a:t>
            </a:r>
            <a:br/>
            <a:r>
              <a:t>Your thoughts are transcribed and</a:t>
            </a:r>
            <a:br/>
            <a:r>
              <a:t>structured by the time you’re home.</a:t>
            </a:r>
            <a:br/>
            <a:br/>
            <a:r>
              <a:t>Working prototype on stage today.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AGENT-NATIVE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Don’t compete with agents.</a:t>
            </a:r>
            <a:br/>
            <a:r>
              <a:t>Build the tool layer they all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47548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Spin up a knowledge vault in seconds.</a:t>
            </a:r>
            <a:br/>
            <a:r>
              <a:t>Give any AI an MCP link. That’s it.</a:t>
            </a:r>
            <a:br/>
            <a:r>
              <a:t>Your data lives in a graph database:</a:t>
            </a:r>
            <a:br/>
            <a:r>
              <a:t>Things, Tags, and Tools.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4480560"/>
            <a:ext cx="47548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45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Built on MCP — the open standard for</a:t>
            </a:r>
            <a:br/>
            <a:r>
              <a:t>connecting AI to tools. Whatever AI you</a:t>
            </a:r>
            <a:br/>
            <a:r>
              <a:t>already use, Parachute makes it better.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743200"/>
            <a:ext cx="5029200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66560" y="29260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32004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Parachute Daily  ·  Pendant  ·  Phone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0" y="35661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384048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4A7C59"/>
                </a:solidFill>
                <a:latin typeface="Courier New"/>
              </a:defRPr>
            </a:pPr>
            <a:r>
              <a:t>DATA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069080"/>
            <a:ext cx="4389120" cy="457200"/>
          </a:xfrm>
          <a:prstGeom prst="roundRect">
            <a:avLst/>
          </a:prstGeom>
          <a:solidFill>
            <a:srgbClr val="E8F5EC"/>
          </a:solidFill>
          <a:ln w="12700">
            <a:solidFill>
              <a:srgbClr val="4A7C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41148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4A7C59"/>
                </a:solidFill>
                <a:latin typeface="Calibri"/>
              </a:defRPr>
            </a:pPr>
            <a:r>
              <a:t>Parachute Server — Things · Tags · Tools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0">
                <a:solidFill>
                  <a:srgbClr val="9A9690"/>
                </a:solidFill>
                <a:latin typeface="Courier New"/>
              </a:defRPr>
            </a:pPr>
            <a:r>
              <a:t>↓ MCP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846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000" b="1">
                <a:solidFill>
                  <a:srgbClr val="9A9690"/>
                </a:solidFill>
                <a:latin typeface="Courier New"/>
              </a:defRPr>
            </a:pPr>
            <a:r>
              <a:t>AGENTS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51206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2C2A26"/>
                </a:solidFill>
                <a:latin typeface="Calibri"/>
              </a:defRPr>
            </a:pPr>
            <a:r>
              <a:t>Claude  ·  ChatGPT  ·  OpenClaw  ·  Any 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57607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800" b="0">
                <a:solidFill>
                  <a:srgbClr val="2C2A26"/>
                </a:solidFill>
                <a:latin typeface="Georgia"/>
              </a:defRPr>
            </a:pPr>
            <a:r>
              <a:t>We’re not trying to build the most intelligent tool. We’re building the most important tool for intelligent systems to use.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Context compounds.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017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6B6860"/>
                </a:solidFill>
                <a:latin typeface="Calibri"/>
              </a:defRPr>
            </a:pPr>
            <a:r>
              <a:t>Every note, every voice entry builds a richer personal data layer —</a:t>
            </a:r>
            <a:br/>
            <a:r>
              <a:t>not a flat text file, but a real graph that can be queried across months and years.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42062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2062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Capture thoughts in Daily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46634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6634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Build months of personal context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51206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11680" y="51206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Connect any AI via MCP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5778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9A9690"/>
                </a:solidFill>
                <a:latin typeface="Courier New"/>
              </a:defRPr>
            </a:pPr>
            <a: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55778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0">
                <a:solidFill>
                  <a:srgbClr val="2C2A26"/>
                </a:solidFill>
                <a:latin typeface="Georgia"/>
              </a:defRPr>
            </a:pPr>
            <a:r>
              <a:t>AI already knows you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6035040"/>
            <a:ext cx="548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4A7C59"/>
                </a:solidFill>
                <a:latin typeface="Courier New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6035040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000" b="1">
                <a:solidFill>
                  <a:srgbClr val="4A7C59"/>
                </a:solidFill>
                <a:latin typeface="Georgia"/>
              </a:defRPr>
            </a:pPr>
            <a:r>
              <a:t>Switching cost through genuine value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0" y="4206240"/>
            <a:ext cx="4572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6B6860"/>
                </a:solidFill>
                <a:latin typeface="Calibri"/>
              </a:defRPr>
            </a:pPr>
            <a:r>
              <a:t>Open source (AGPL-3.0)</a:t>
            </a:r>
            <a:br/>
            <a:r>
              <a:t>Local-first</a:t>
            </a:r>
            <a:br/>
            <a:r>
              <a:t>Public Benefit Corporation</a:t>
            </a:r>
            <a:br/>
            <a:br/>
            <a:r>
              <a:t>Your data is yours —</a:t>
            </a:r>
            <a:br/>
            <a:r>
              <a:t>portable, exportable, self-hostable.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BUSINESS MODEL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Start free.</a:t>
            </a:r>
            <a:br/>
            <a:r>
              <a:t>Grow with every user.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9A9690"/>
                </a:solidFill>
                <a:latin typeface="Georgia"/>
              </a:defRPr>
            </a:pPr>
            <a:r>
              <a:t>Free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313639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Offline journal + on-device transcription. Zero hosting cost.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$2/mo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377647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sync + MCP access — your notes available to any 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8912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6B6860"/>
                </a:solidFill>
                <a:latin typeface="Georgia"/>
              </a:defRPr>
            </a:pPr>
            <a:r>
              <a:t>$5/mo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26080" y="441655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Cloud transcription + cleanup — server-side, better 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4937760"/>
            <a:ext cx="9601200" cy="502920"/>
          </a:xfrm>
          <a:prstGeom prst="roundRect">
            <a:avLst/>
          </a:prstGeom>
          <a:solidFill>
            <a:srgbClr val="E8F5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502920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2200" b="0">
                <a:solidFill>
                  <a:srgbClr val="4A7C59"/>
                </a:solidFill>
                <a:latin typeface="Georgia"/>
              </a:defRPr>
            </a:pPr>
            <a:r>
              <a:t>$10/mo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5056632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6B6860"/>
                </a:solidFill>
                <a:latin typeface="Calibri"/>
              </a:defRPr>
            </a:pPr>
            <a:r>
              <a:t>AI reflections, vector search, and synthesis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5943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9A9690"/>
                </a:solidFill>
                <a:latin typeface="Calibri"/>
              </a:defRPr>
            </a:pPr>
            <a:r>
              <a:t>100M+ people already pay $20+/mo for AI. We’re not competing with that subscription —</a:t>
            </a:r>
            <a:br/>
            <a:r>
              <a:t>we’re the $2–10 add-on that makes it dramatically better. Free tier = zero hosting cost.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FINANCIAL PROJECTIONS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Profitable by year three.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371600" y="3017520"/>
          <a:ext cx="749808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1645920"/>
                <a:gridCol w="1645920"/>
                <a:gridCol w="1645920"/>
              </a:tblGrid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2026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2027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9A9690"/>
                          </a:solidFill>
                          <a:latin typeface="Calibri"/>
                        </a:defRPr>
                      </a:pPr>
                      <a:r>
                        <a:t>2028</a:t>
                      </a:r>
                    </a:p>
                  </a:txBody>
                  <a:tcPr>
                    <a:solidFill>
                      <a:srgbClr val="F3F0EA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Free users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75,000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500,000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Paid subscribers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8,000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50,000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Avg rev / subscriber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~$5/mo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~$480K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 b="1">
                          <a:solidFill>
                            <a:srgbClr val="4A7C59"/>
                          </a:solidFill>
                          <a:latin typeface="Calibri"/>
                        </a:defRPr>
                      </a:pPr>
                      <a:r>
                        <a:t>~$3M</a:t>
                      </a:r>
                    </a:p>
                  </a:txBody>
                  <a:tcPr>
                    <a:solidFill>
                      <a:srgbClr val="F0F8F2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Team costs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~$150K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~$800K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Infra + COGS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~$400K</a:t>
                      </a:r>
                    </a:p>
                  </a:txBody>
                  <a:tcPr>
                    <a:solidFill>
                      <a:srgbClr val="FAF8F4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>
                        <a:defRPr sz="1100" b="1">
                          <a:solidFill>
                            <a:srgbClr val="2C2A26"/>
                          </a:solidFill>
                          <a:latin typeface="Calibri"/>
                        </a:defRPr>
                      </a:pPr>
                      <a:r>
                        <a:t>Total opex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~$160K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~$500K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6B6860"/>
                          </a:solidFill>
                          <a:latin typeface="Calibri"/>
                        </a:defRPr>
                      </a:pPr>
                      <a:r>
                        <a:t>~$1.2M</a:t>
                      </a:r>
                    </a:p>
                  </a:txBody>
                  <a:tcPr>
                    <a:solidFill>
                      <a:srgbClr val="FFFFFF"/>
                    </a:solidFill>
                    <a:lnL w="6350">
                      <a:solidFill>
                        <a:srgbClr val="E4E0D8"/>
                      </a:solidFill>
                    </a:lnL>
                    <a:lnR w="6350">
                      <a:solidFill>
                        <a:srgbClr val="E4E0D8"/>
                      </a:solidFill>
                    </a:lnR>
                    <a:lnT w="6350">
                      <a:solidFill>
                        <a:srgbClr val="E4E0D8"/>
                      </a:solidFill>
                    </a:lnT>
                    <a:lnB w="6350">
                      <a:solidFill>
                        <a:srgbClr val="E4E0D8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3716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100M+ AI users are all potential customers. Conservative given the scale of the opportunity.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TEAM &amp; TRACTION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Self-funded.</a:t>
            </a:r>
            <a:br/>
            <a:r>
              <a:t>Built from scratch.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3310128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32918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Working app with local voice transcription + graph-native storage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3694176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675888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MCP server with Things, Tags, Tools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4078224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059936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Functional pendant prototype (on stage today)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46227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4A7C59"/>
                </a:solidFill>
                <a:latin typeface="Calibri"/>
              </a:defRPr>
            </a:pPr>
            <a: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443984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6B6860"/>
                </a:solidFill>
                <a:latin typeface="Calibri"/>
              </a:defRPr>
            </a:pPr>
            <a:r>
              <a:t>Daily beta launching this month · PBC incorporated in Colorado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0" y="3017520"/>
            <a:ext cx="4572000" cy="2926080"/>
          </a:xfrm>
          <a:prstGeom prst="roundRect">
            <a:avLst/>
          </a:prstGeom>
          <a:solidFill>
            <a:srgbClr val="F3F0EA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223760" y="32004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TEAM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3657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Aaron Gabriel Neyer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3886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Founder · Product &amp; architecture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23760" y="4114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Jon 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4343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Daily co-lead · Founding engineer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4572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Lucian Hymer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48006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Server co-lead · Founding engineer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0292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Marvin Melzer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52578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Hardware · Pendant prototype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60" y="54864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1">
                <a:solidFill>
                  <a:srgbClr val="2C2A26"/>
                </a:solidFill>
                <a:latin typeface="Calibri"/>
              </a:defRPr>
            </a:pPr>
            <a:r>
              <a:t>Neil Yarnal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5715000"/>
            <a:ext cx="4114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0">
                <a:solidFill>
                  <a:srgbClr val="6B6860"/>
                </a:solidFill>
                <a:latin typeface="Calibri"/>
              </a:defRPr>
            </a:pPr>
            <a:r>
              <a:t>Brand &amp; design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7280" y="59436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MA Ecopsychology · MS Creative Technology &amp; Design (CU ATLAS, graduating May 2026) · Founding engineer ×2 · Ex-Google · 10+ years full stack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8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4A7C5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640080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9A9690"/>
                </a:solidFill>
                <a:latin typeface="Calibri"/>
              </a:defRPr>
            </a:pPr>
            <a:r>
              <a:t>parachute.computer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09728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100" b="1">
                <a:solidFill>
                  <a:srgbClr val="4A7C59"/>
                </a:solidFill>
                <a:latin typeface="Calibri"/>
              </a:defRPr>
            </a:pPr>
            <a:r>
              <a:t>THE ASK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55448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defRPr sz="4000" b="0">
                <a:solidFill>
                  <a:srgbClr val="2C2A26"/>
                </a:solidFill>
                <a:latin typeface="Georgia"/>
              </a:defRPr>
            </a:pPr>
            <a:r>
              <a:t>Raising $300K to launch</a:t>
            </a:r>
            <a:br/>
            <a:r>
              <a:t>the memory layer.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017520"/>
            <a:ext cx="5486400" cy="20116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4E0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324612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Instrument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32461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SAFE (YC standard)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37490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Use of funds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91840" y="374904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Core team full-time through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2519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300" b="0">
                <a:solidFill>
                  <a:srgbClr val="9A9690"/>
                </a:solidFill>
                <a:latin typeface="Calibri"/>
              </a:defRPr>
            </a:pPr>
            <a:r>
              <a:t>Goal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2C2A26"/>
                </a:solidFill>
                <a:latin typeface="Georgia"/>
              </a:defRPr>
            </a:pPr>
            <a:r>
              <a:t>Production launch by June · revenue immediately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3035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2C2A26"/>
                </a:solidFill>
                <a:latin typeface="Georgia"/>
              </a:defRPr>
            </a:pPr>
            <a:r>
              <a:t>A memory layer for humans and AI</a:t>
            </a:r>
            <a:br/>
            <a:r>
              <a:t>to think and remember together.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 sz="1200" b="0">
                <a:solidFill>
                  <a:srgbClr val="9A9690"/>
                </a:solidFill>
                <a:latin typeface="Calibri"/>
              </a:defRPr>
            </a:pPr>
            <a:r>
              <a:t>Aaron Gabriel Neyer  ·  aaron@parachute.computer  ·  (513) 593-1721  ·  Boulder, CO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